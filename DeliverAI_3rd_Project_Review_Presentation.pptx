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69310" y="868680"/>
            <a:ext cx="5852160" cy="384048"/>
          </a:xfrm>
          <a:prstGeom prst="roundRect">
            <a:avLst/>
          </a:prstGeom>
          <a:solidFill>
            <a:srgbClr val="0B0F19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Bahnschrift"/>
              </a:defRPr>
            </a:pPr>
            <a:r>
              <a:t>SHRI SHANKARACHARYA INSTITUTE OF PROFESSIONAL MGMT &amp; TECH, RAIPUR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030" y="1371600"/>
            <a:ext cx="3474720" cy="320040"/>
          </a:xfrm>
          <a:prstGeom prst="roundRect">
            <a:avLst/>
          </a:prstGeom>
          <a:solidFill>
            <a:srgbClr val="1C26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A855F7"/>
                </a:solidFill>
                <a:latin typeface="Bahnschrift"/>
              </a:defRPr>
            </a:pPr>
            <a:r>
              <a:t>3RD PROJECT REVIEW  •  B.TECH 5TH SEMESTER (AIML)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999713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Bahnschrift"/>
              </a:defRPr>
            </a:pPr>
            <a:r>
              <a:t>DeliverAI : Package Delivery Time Predictor</a:t>
            </a:r>
          </a:p>
          <a:p>
            <a:pPr algn="ctr">
              <a:defRPr sz="1300">
                <a:solidFill>
                  <a:srgbClr val="00F0FF"/>
                </a:solidFill>
                <a:latin typeface="Segoe UI"/>
              </a:defRPr>
            </a:pPr>
            <a:r>
              <a:t>Intelligent Multi-Model ETA Regression &amp; OSRM Highway Corridor Telemetry for Indian Logistics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291840"/>
            <a:ext cx="4663440" cy="169164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3291840"/>
            <a:ext cx="73152" cy="16916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345643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Bahnschrift"/>
              </a:defRPr>
            </a:pPr>
            <a:r>
              <a:t>PROJECT TEAM CREDENTIALS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03320"/>
            <a:ext cx="42062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• Project Domain : </a:t>
            </a:r>
            <a:r>
              <a:rPr sz="1000">
                <a:solidFill>
                  <a:srgbClr val="94A3B8"/>
                </a:solidFill>
              </a:rPr>
              <a:t>Artificial Intelligence &amp; Intelligent Logistics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• Group Name : </a:t>
            </a:r>
            <a:r>
              <a:rPr sz="1000">
                <a:solidFill>
                  <a:srgbClr val="94A3B8"/>
                </a:solidFill>
              </a:rPr>
              <a:t>5th Sem AIML Project Group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• Team Lead : </a:t>
            </a:r>
            <a:r>
              <a:rPr sz="1000">
                <a:solidFill>
                  <a:srgbClr val="94A3B8"/>
                </a:solidFill>
              </a:rPr>
              <a:t>Arghodeep Sengupta &amp; Project Partners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3291840"/>
            <a:ext cx="4663440" cy="169164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8095" y="3291840"/>
            <a:ext cx="73152" cy="1691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6695" y="345643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Bahnschrift"/>
              </a:defRPr>
            </a:pPr>
            <a:r>
              <a:t>DEPARTMENTAL SUPERVISION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695" y="3703320"/>
            <a:ext cx="42062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• Project In-Charge : </a:t>
            </a:r>
            <a:r>
              <a:rPr sz="1000">
                <a:solidFill>
                  <a:srgbClr val="94A3B8"/>
                </a:solidFill>
              </a:rPr>
              <a:t>Ms. Rashmi Banchhor (Assistant Professor, AIML)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• Head of Department : </a:t>
            </a:r>
            <a:r>
              <a:rPr sz="1000">
                <a:solidFill>
                  <a:srgbClr val="94A3B8"/>
                </a:solidFill>
              </a:rPr>
              <a:t>Dr. Anjali Chandra (HOD, AIML)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• Review Dates : </a:t>
            </a:r>
            <a:r>
              <a:rPr sz="1000">
                <a:solidFill>
                  <a:srgbClr val="94A3B8"/>
                </a:solidFill>
              </a:rPr>
              <a:t>23rd &amp; 24th October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5166360"/>
            <a:ext cx="1920240" cy="868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23951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0FF"/>
                </a:solidFill>
                <a:latin typeface="Bahnschrift"/>
              </a:defRPr>
            </a:pPr>
            <a:r>
              <a:t>184,000+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Unified Indian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5166360"/>
            <a:ext cx="1920240" cy="868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523951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Bahnschrift"/>
              </a:defRPr>
            </a:pPr>
            <a:r>
              <a:t>19 Models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Benchmarked ML/DL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5166360"/>
            <a:ext cx="1920240" cy="868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523951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Bahnschrift"/>
              </a:defRPr>
            </a:pPr>
            <a:r>
              <a:t>0.9624 R²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Peak Ensemble 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5166360"/>
            <a:ext cx="1920240" cy="868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523951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855F7"/>
                </a:solidFill>
                <a:latin typeface="Bahnschrift"/>
              </a:defRPr>
            </a:pPr>
            <a:r>
              <a:t>99.35%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Laya SLM Routing Acc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5166360"/>
            <a:ext cx="1920240" cy="868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523951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Bahnschrift"/>
              </a:defRPr>
            </a:pPr>
            <a:r>
              <a:t>&lt; 45 ms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CUDA GPU Latency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45720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320040"/>
            <a:ext cx="615665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02336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Bahnschrift"/>
              </a:defRPr>
            </a:pPr>
            <a:r>
              <a:t>SSIPMT RAIPUR  •  DEPARTMENT OF ARTIFICIAL INTELLIGENCE &amp; MACHINE LEARNING  •  5TH SEMESTER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84048"/>
            <a:ext cx="2316175" cy="3200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Bahnschrift"/>
              </a:defRPr>
            </a:pPr>
            <a:r>
              <a:t>ANALYSIS PHASE  |  2/16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Bahnschrift"/>
              </a:defRPr>
            </a:pPr>
            <a:r>
              <a:t>Project Motivation: The Indian Logistics Dilemma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Why traditional dispatch heuristics fail on Indian transport networks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120640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73152" cy="46634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6479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Bahnschrift"/>
              </a:defRPr>
            </a:pPr>
            <a:r>
              <a:t>CONVENTIONAL HEURISTIC DISPATCH (LIMITATIONS)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F43F5E"/>
                </a:solidFill>
              </a:rPr>
              <a:t>❌ Static Speed Assumptions: </a:t>
            </a:r>
            <a:r>
              <a:rPr sz="1000">
                <a:solidFill>
                  <a:srgbClr val="CBD5E1"/>
                </a:solidFill>
              </a:rPr>
              <a:t>Assumes constant 40-50 km/h across all state highways, ignoring regional road quality.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43F5E"/>
                </a:solidFill>
              </a:rPr>
              <a:t>❌ Zero Weather Sensitivity: </a:t>
            </a:r>
            <a:r>
              <a:rPr sz="1000">
                <a:solidFill>
                  <a:srgbClr val="CBD5E1"/>
                </a:solidFill>
              </a:rPr>
              <a:t>Monsoon rainfall causes 15% to 35% systemic delays that static systems completely overlook.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43F5E"/>
                </a:solidFill>
              </a:rPr>
              <a:t>❌ Urban Bottlenecks: </a:t>
            </a:r>
            <a:r>
              <a:rPr sz="1000">
                <a:solidFill>
                  <a:srgbClr val="CBD5E1"/>
                </a:solidFill>
              </a:rPr>
              <a:t>Fails to distinguish peak-hour metro gridlocks from express highway free-flow conditions.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43F5E"/>
                </a:solidFill>
              </a:rPr>
              <a:t>❌ Commercial API Dependency: </a:t>
            </a:r>
            <a:r>
              <a:rPr sz="1000">
                <a:solidFill>
                  <a:srgbClr val="CBD5E1"/>
                </a:solidFill>
              </a:rPr>
              <a:t>Heavy recurring pay-per-call charges from Google Maps API without domain model control.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43F5E"/>
                </a:solidFill>
              </a:rPr>
              <a:t>❌ High Return-to-Origin (RTO): </a:t>
            </a:r>
            <a:r>
              <a:rPr sz="1000">
                <a:solidFill>
                  <a:srgbClr val="CBD5E1"/>
                </a:solidFill>
              </a:rPr>
              <a:t>Inaccurate ETA windows cause customer unavailability, leading to multi-crore courier losses.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9535" y="1600200"/>
            <a:ext cx="5120640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39535" y="1600200"/>
            <a:ext cx="73152" cy="4663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8135" y="176479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Bahnschrift"/>
              </a:defRPr>
            </a:pPr>
            <a:r>
              <a:t>DELIVERAI INTELLIGENT ETA ENGINE (OUR SOLUTION)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8135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10B981"/>
                </a:solidFill>
              </a:rPr>
              <a:t>✔ 184k Real Indian Telemetry: </a:t>
            </a:r>
            <a:r>
              <a:rPr sz="1000">
                <a:solidFill>
                  <a:srgbClr val="CBD5E1"/>
                </a:solidFill>
              </a:rPr>
              <a:t>Trained on real courier journeys (Delhivery, Amazon India, Bangalore traffic).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B981"/>
                </a:solidFill>
              </a:rPr>
              <a:t>✔ Dynamic OSRM Routing: </a:t>
            </a:r>
            <a:r>
              <a:rPr sz="1000">
                <a:solidFill>
                  <a:srgbClr val="CBD5E1"/>
                </a:solidFill>
              </a:rPr>
              <a:t>Leverages open-source routing machine for true road distance and turn-by-turn vectors.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B981"/>
                </a:solidFill>
              </a:rPr>
              <a:t>✔ 19 Multi-Model Intelligence: </a:t>
            </a:r>
            <a:r>
              <a:rPr sz="1000">
                <a:solidFill>
                  <a:srgbClr val="CBD5E1"/>
                </a:solidFill>
              </a:rPr>
              <a:t>Deploys gradient boosting &amp; ensemble regression tailored to specific shipment types.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B981"/>
                </a:solidFill>
              </a:rPr>
              <a:t>✔ Corridor-Stratified Routing: </a:t>
            </a:r>
            <a:r>
              <a:rPr sz="1000">
                <a:solidFill>
                  <a:srgbClr val="CBD5E1"/>
                </a:solidFill>
              </a:rPr>
              <a:t>Auto-selects optimal model based on trip distance (Hyperlocal, Regional, Interstate).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B981"/>
                </a:solidFill>
              </a:rPr>
              <a:t>✔ Zero Commercial API Costs: </a:t>
            </a:r>
            <a:r>
              <a:rPr sz="1000">
                <a:solidFill>
                  <a:srgbClr val="CBD5E1"/>
                </a:solidFill>
              </a:rPr>
              <a:t>100% open-source architecture with offline-capable caching and sub-50ms inference.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45720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320040"/>
            <a:ext cx="615665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02336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Bahnschrift"/>
              </a:defRPr>
            </a:pPr>
            <a:r>
              <a:t>SSIPMT RAIPUR  •  DEPARTMENT OF ARTIFICIAL INTELLIGENCE &amp; MACHINE LEARNING  •  5TH SEMESTER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84048"/>
            <a:ext cx="2316175" cy="3200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Bahnschrift"/>
              </a:defRPr>
            </a:pPr>
            <a:r>
              <a:t>ANALYSIS PHASE  |  3/16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Bahnschrift"/>
              </a:defRPr>
            </a:pPr>
            <a:r>
              <a:t>Problem Statement &amp; Project 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728655" cy="16916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73152" cy="16916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19072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Bahnschrift"/>
              </a:defRPr>
            </a:pPr>
            <a:r>
              <a:t>FORMAL 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10271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FFFFFF"/>
                </a:solidFill>
                <a:latin typeface="Segoe UI"/>
              </a:defRPr>
            </a:pPr>
            <a:r>
              <a:t>"To architect, train, and deploy an end-to-end Machine Learning delivery duration prediction system that models real-world non-linear delays across Indian logistics corridors—combining route topology, traffic congestion, and shipment attributes into an accurate, low-latency, and zero-cost web application."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2542032" cy="28346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73152" cy="28346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661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F0FF"/>
                </a:solidFill>
                <a:latin typeface="Bahnschrift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22677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Bahnschrift"/>
              </a:defRPr>
            </a:pPr>
            <a:r>
              <a:t>DATASET UNIFICATION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22677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Ingest, clean, normalize and merge 184,000+ logistics rows from 6 distinct real-world Indian freight sources.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6432" y="3474720"/>
            <a:ext cx="2542032" cy="28346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56432" y="3474720"/>
            <a:ext cx="73152" cy="2834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35661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Bahnschrift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4114800"/>
            <a:ext cx="22677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Bahnschrift"/>
              </a:defRPr>
            </a:pPr>
            <a:r>
              <a:t>19-MODEL BENCHMARK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2" y="4572000"/>
            <a:ext cx="22677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Train and rigorously compare 19 algorithms (Ensembles, Boosters, Deep Learning, Baselines) on standard metrics.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474720"/>
            <a:ext cx="2542032" cy="28346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81344" y="3474720"/>
            <a:ext cx="73152" cy="28346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4" y="35661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855F7"/>
                </a:solidFill>
                <a:latin typeface="Bahnschrift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4114800"/>
            <a:ext cx="22677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Bahnschrift"/>
              </a:defRPr>
            </a:pPr>
            <a:r>
              <a:t>CORRIDOR STRATIFICATION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4572000"/>
            <a:ext cx="22677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Evaluate performance across 48 discrete 50km intervals (0 to 2,400 km) to establish an operational routing rulebook.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06256" y="3474720"/>
            <a:ext cx="2542032" cy="28346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06256" y="3474720"/>
            <a:ext cx="73152" cy="2834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43416" y="35661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Bahnschrift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3416" y="4114800"/>
            <a:ext cx="22677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Bahnschrift"/>
              </a:defRPr>
            </a:pPr>
            <a:r>
              <a:t>FULL-STACK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3416" y="4572000"/>
            <a:ext cx="22677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Build a production-ready Flask REST API and interactive Leaflet map dashboard with sub-50ms prediction 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45720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320040"/>
            <a:ext cx="615665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02336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Bahnschrift"/>
              </a:defRPr>
            </a:pPr>
            <a:r>
              <a:t>SSIPMT RAIPUR  •  DEPARTMENT OF ARTIFICIAL INTELLIGENCE &amp; MACHINE LEARNING  •  5TH SEMESTER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84048"/>
            <a:ext cx="2316175" cy="3200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Bahnschrift"/>
              </a:defRPr>
            </a:pPr>
            <a:r>
              <a:t>ANALYSIS PHASE  |  4/16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Bahnschrift"/>
              </a:defRPr>
            </a:pPr>
            <a:r>
              <a:t>Technical Architecture &amp; 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Complete breakdown of toolchains and framework choices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73152" cy="46634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64792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Bahnschrift"/>
              </a:defRPr>
            </a:pPr>
            <a:r>
              <a:t>1. AI &amp;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148840"/>
            <a:ext cx="22128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Core Framework: 
</a:t>
            </a:r>
            <a:r>
              <a:rPr sz="900">
                <a:solidFill>
                  <a:srgbClr val="94A3B8"/>
                </a:solidFill>
              </a:rPr>
              <a:t>Scikit-Learn 1.4+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On-Device SLM: 
</a:t>
            </a:r>
            <a:r>
              <a:rPr sz="900">
                <a:solidFill>
                  <a:srgbClr val="94A3B8"/>
                </a:solidFill>
              </a:rPr>
              <a:t>ModernBERT-421M (Laya Fine-Tuned)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Meta-Router: 
</a:t>
            </a:r>
            <a:r>
              <a:rPr sz="900">
                <a:solidFill>
                  <a:srgbClr val="94A3B8"/>
                </a:solidFill>
              </a:rPr>
              <a:t>Dual-Tier Meta-Classifier (&lt;0.4ms)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Gradient Boosters: 
</a:t>
            </a:r>
            <a:r>
              <a:rPr sz="900">
                <a:solidFill>
                  <a:srgbClr val="94A3B8"/>
                </a:solidFill>
              </a:rPr>
              <a:t>CatBoost, LightGBM, XGBoost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Deep Learning: 
</a:t>
            </a:r>
            <a:r>
              <a:rPr sz="900">
                <a:solidFill>
                  <a:srgbClr val="94A3B8"/>
                </a:solidFill>
              </a:rPr>
              <a:t>PyTorch 2.5.1 + CUDA 12.1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Validation: 
</a:t>
            </a:r>
            <a:r>
              <a:rPr sz="900">
                <a:solidFill>
                  <a:srgbClr val="94A3B8"/>
                </a:solidFill>
              </a:rPr>
              <a:t>80/20 Stratified + 99.35% SLM Acc
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600200"/>
            <a:ext cx="2542032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56432" y="1600200"/>
            <a:ext cx="73152" cy="46634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1764792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Bahnschrift"/>
              </a:defRPr>
            </a:pPr>
            <a:r>
              <a:t>2. Backend API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148840"/>
            <a:ext cx="22128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Web Framework: 
</a:t>
            </a:r>
            <a:r>
              <a:rPr sz="900">
                <a:solidFill>
                  <a:srgbClr val="94A3B8"/>
                </a:solidFill>
              </a:rPr>
              <a:t>Python 3.10+ &amp; Flask 3.x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Architecture: 
</a:t>
            </a:r>
            <a:r>
              <a:rPr sz="900">
                <a:solidFill>
                  <a:srgbClr val="94A3B8"/>
                </a:solidFill>
              </a:rPr>
              <a:t>Modular Application Factory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ORM Layer: 
</a:t>
            </a:r>
            <a:r>
              <a:rPr sz="900">
                <a:solidFill>
                  <a:srgbClr val="94A3B8"/>
                </a:solidFill>
              </a:rPr>
              <a:t>SQLAlchemy 2.x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Routing Engine: 
</a:t>
            </a:r>
            <a:r>
              <a:rPr sz="900">
                <a:solidFill>
                  <a:srgbClr val="94A3B8"/>
                </a:solidFill>
              </a:rPr>
              <a:t>OSRM Local/Public Server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Geocoding API: 
</a:t>
            </a:r>
            <a:r>
              <a:rPr sz="900">
                <a:solidFill>
                  <a:srgbClr val="94A3B8"/>
                </a:solidFill>
              </a:rPr>
              <a:t>Nominatim OpenStreetMap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Weather API: 
</a:t>
            </a:r>
            <a:r>
              <a:rPr sz="900">
                <a:solidFill>
                  <a:srgbClr val="94A3B8"/>
                </a:solidFill>
              </a:rPr>
              <a:t>OpenWeatherMap REST API
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600200"/>
            <a:ext cx="2542032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344" y="1600200"/>
            <a:ext cx="73152" cy="4663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1764792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Bahnschrift"/>
              </a:defRPr>
            </a:pPr>
            <a:r>
              <a:t>3. Frontend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148840"/>
            <a:ext cx="22128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Structure: 
</a:t>
            </a:r>
            <a:r>
              <a:rPr sz="900">
                <a:solidFill>
                  <a:srgbClr val="94A3B8"/>
                </a:solidFill>
              </a:rPr>
              <a:t>Semantic HTML5 UI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Styling: 
</a:t>
            </a:r>
            <a:r>
              <a:rPr sz="900">
                <a:solidFill>
                  <a:srgbClr val="94A3B8"/>
                </a:solidFill>
              </a:rPr>
              <a:t>Vanilla CSS3 Glassmorphism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Scripting: 
</a:t>
            </a:r>
            <a:r>
              <a:rPr sz="900">
                <a:solidFill>
                  <a:srgbClr val="94A3B8"/>
                </a:solidFill>
              </a:rPr>
              <a:t>Asynchronous ES6+ JavaScript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Map Engine: 
</a:t>
            </a:r>
            <a:r>
              <a:rPr sz="900">
                <a:solidFill>
                  <a:srgbClr val="94A3B8"/>
                </a:solidFill>
              </a:rPr>
              <a:t>Leaflet.js + OSM Tiles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Route Polylines: 
</a:t>
            </a:r>
            <a:r>
              <a:rPr sz="900">
                <a:solidFill>
                  <a:srgbClr val="94A3B8"/>
                </a:solidFill>
              </a:rPr>
              <a:t>GeoJSON Vector Decoding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Responsiveness: 
</a:t>
            </a:r>
            <a:r>
              <a:rPr sz="900">
                <a:solidFill>
                  <a:srgbClr val="94A3B8"/>
                </a:solidFill>
              </a:rPr>
              <a:t>Desktop, Tablet &amp; Mobile Ready
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1600200"/>
            <a:ext cx="2542032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06256" y="1600200"/>
            <a:ext cx="73152" cy="46634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6" y="1764792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Bahnschrift"/>
              </a:defRPr>
            </a:pPr>
            <a:r>
              <a:t>4. Data &amp; Persistence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2148840"/>
            <a:ext cx="22128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Primary DB: 
</a:t>
            </a:r>
            <a:r>
              <a:rPr sz="900">
                <a:solidFill>
                  <a:srgbClr val="94A3B8"/>
                </a:solidFill>
              </a:rPr>
              <a:t>MySQL 8.x (Production)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Fallback DB: 
</a:t>
            </a:r>
            <a:r>
              <a:rPr sz="900">
                <a:solidFill>
                  <a:srgbClr val="94A3B8"/>
                </a:solidFill>
              </a:rPr>
              <a:t>SQLite 3 (Local Dev)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Data Warehousing: 
</a:t>
            </a:r>
            <a:r>
              <a:rPr sz="900">
                <a:solidFill>
                  <a:srgbClr val="94A3B8"/>
                </a:solidFill>
              </a:rPr>
              <a:t>Pandas DataFrames / CSV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Data Scale: 
</a:t>
            </a:r>
            <a:r>
              <a:rPr sz="900">
                <a:solidFill>
                  <a:srgbClr val="94A3B8"/>
                </a:solidFill>
              </a:rPr>
              <a:t>184,000+ Logistics Rows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Security: 
</a:t>
            </a:r>
            <a:r>
              <a:rPr sz="900">
                <a:solidFill>
                  <a:srgbClr val="94A3B8"/>
                </a:solidFill>
              </a:rPr>
              <a:t>Environment Configuration (.env)
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FFFFFF"/>
                </a:solidFill>
              </a:rPr>
              <a:t>Containerization: 
</a:t>
            </a:r>
            <a:r>
              <a:rPr sz="900">
                <a:solidFill>
                  <a:srgbClr val="94A3B8"/>
                </a:solidFill>
              </a:rPr>
              <a:t>Docker &amp; Docker Compose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45720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320040"/>
            <a:ext cx="615665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02336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Bahnschrift"/>
              </a:defRPr>
            </a:pPr>
            <a:r>
              <a:t>SSIPMT RAIPUR  •  DEPARTMENT OF ARTIFICIAL INTELLIGENCE &amp; MACHINE LEARNING  •  5TH SEMESTER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84048"/>
            <a:ext cx="2316175" cy="3200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Bahnschrift"/>
              </a:defRPr>
            </a:pPr>
            <a:r>
              <a:t>ANALYSIS PHASE  |  5/16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Bahnschrift"/>
              </a:defRPr>
            </a:pPr>
            <a:r>
              <a:t>Data Analysis: 184k Records &amp; Feature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486400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73152" cy="46634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6479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Bahnschrift"/>
              </a:defRPr>
            </a:pPr>
            <a:r>
              <a:t>Unified Indian Logistics Data Sources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148840"/>
          <a:ext cx="51206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05840"/>
                <a:gridCol w="18288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0F0FF"/>
                          </a:solidFill>
                          <a:latin typeface="Bahnschrift"/>
                        </a:defRPr>
                      </a:pPr>
                      <a:r>
                        <a:t>Dataset Source</a:t>
                      </a:r>
                    </a:p>
                  </a:txBody>
                  <a:tcPr>
                    <a:solidFill>
                      <a:srgbClr val="1C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0F0FF"/>
                          </a:solidFill>
                          <a:latin typeface="Bahnschrift"/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C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0F0FF"/>
                          </a:solidFill>
                          <a:latin typeface="Bahnschrift"/>
                        </a:defRPr>
                      </a:pPr>
                      <a:r>
                        <a:t>Logistics Domain</a:t>
                      </a:r>
                    </a:p>
                  </a:txBody>
                  <a:tcPr>
                    <a:solidFill>
                      <a:srgbClr val="1C26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Delhivery Logistics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55,000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Courier Corridors &amp; OSRM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Amazon India Sales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25,000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E-Commerce Fulfillment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Hyperlocal Parcel Trips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45,593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Urban Two-Wheeler Routes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Bangalore Traffic Corridors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8,936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Metro Congestion Peaks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Indian Road &amp; Hazard Factors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20,000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Highway Condition Factors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Indian Railways Freight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Heavy Rail Container Buffer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492240" y="1600200"/>
            <a:ext cx="4967935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600200"/>
            <a:ext cx="73152" cy="4663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764792"/>
            <a:ext cx="4602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Bahnschrift"/>
              </a:defRPr>
            </a:pPr>
            <a:r>
              <a:t>7 Core Engineered Input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148840"/>
            <a:ext cx="4526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950">
                <a:solidFill>
                  <a:srgbClr val="10B981"/>
                </a:solidFill>
              </a:rPr>
              <a:t>distance_km [Float] : </a:t>
            </a:r>
            <a:r>
              <a:rPr sz="900">
                <a:solidFill>
                  <a:srgbClr val="CBD5E1"/>
                </a:solidFill>
              </a:rPr>
              <a:t>True highway route distance computed via OSRM turn-by-turn routing engine.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0B981"/>
                </a:solidFill>
              </a:rPr>
              <a:t>traffic_duration_min [Float] : </a:t>
            </a:r>
            <a:r>
              <a:rPr sz="900">
                <a:solidFill>
                  <a:srgbClr val="CBD5E1"/>
                </a:solidFill>
              </a:rPr>
              <a:t>Traffic-adjusted baseline duration accounting for corridor congestion.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0B981"/>
                </a:solidFill>
              </a:rPr>
              <a:t>traffic_level_enc [Categorical] : </a:t>
            </a:r>
            <a:r>
              <a:rPr sz="900">
                <a:solidFill>
                  <a:srgbClr val="CBD5E1"/>
                </a:solidFill>
              </a:rPr>
              <a:t>Encoded congestion factor: LOW (0), MODERATE (1), HIGH (2), SEVERE (3).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0B981"/>
                </a:solidFill>
              </a:rPr>
              <a:t>package_weight_kg [Float] : </a:t>
            </a:r>
            <a:r>
              <a:rPr sz="900">
                <a:solidFill>
                  <a:srgbClr val="CBD5E1"/>
                </a:solidFill>
              </a:rPr>
              <a:t>Net shipment mass directly scaling transit vehicle speed and handling.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0B981"/>
                </a:solidFill>
              </a:rPr>
              <a:t>package_type_enc [Categorical] : </a:t>
            </a:r>
            <a:r>
              <a:rPr sz="900">
                <a:solidFill>
                  <a:srgbClr val="CBD5E1"/>
                </a:solidFill>
              </a:rPr>
              <a:t>SMALL (0), MEDIUM (1), LARGE (2), FRAGILE (3), PERISHABLE (4).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0B981"/>
                </a:solidFill>
              </a:rPr>
              <a:t>priority_enc [Categorical] : </a:t>
            </a:r>
            <a:r>
              <a:rPr sz="900">
                <a:solidFill>
                  <a:srgbClr val="CBD5E1"/>
                </a:solidFill>
              </a:rPr>
              <a:t>Service tier: STANDARD (0), EXPRESS (1), OVERNIGHT (2).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0B981"/>
                </a:solidFill>
              </a:rPr>
              <a:t>shipping_mode_enc [Categorical] : </a:t>
            </a:r>
            <a:r>
              <a:rPr sz="900">
                <a:solidFill>
                  <a:srgbClr val="CBD5E1"/>
                </a:solidFill>
              </a:rPr>
              <a:t>Modal choice: ROAD (0), AIR (1), RAIL (2), SEA (3).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45720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320040"/>
            <a:ext cx="615665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02336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Bahnschrift"/>
              </a:defRPr>
            </a:pPr>
            <a:r>
              <a:t>SSIPMT RAIPUR  •  DEPARTMENT OF ARTIFICIAL INTELLIGENCE &amp; MACHINE LEARNING  •  5TH SEMESTER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84048"/>
            <a:ext cx="2316175" cy="3200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Bahnschrift"/>
              </a:defRPr>
            </a:pPr>
            <a:r>
              <a:t>DESIGN PHASE  |  6/16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Bahnschrift"/>
              </a:defRPr>
            </a:pPr>
            <a:r>
              <a:t>System Architecture: 3-Tier Layered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High-level separation of presentation, business logic, and persistence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0728655" cy="141732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73152" cy="141732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64792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Bahnschrift"/>
              </a:defRPr>
            </a:pPr>
            <a:r>
              <a:t>TIER 1 : CLIENT PRESENTATION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39112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Single Page Web Application with custom glassmorphic CSS styling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Asynchronous Dispatch Input Form with live validation &amp; debounce geocoding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Interactive Leaflet.js Route Map rendering polyline highway coordinates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Dynamic ETA Result Dashboard showing ETA in hours/days + ±30m confidence interval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10728655" cy="141732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73152" cy="14173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64992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Bahnschrift"/>
              </a:defRPr>
            </a:pPr>
            <a:r>
              <a:t>TIER 2 : APPLICATION &amp; INFERENCE LAYER (FLASK)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39312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Modular REST API Services exposing /api/predict, /api/history, and /api/analytics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Geocoding Integration: Translates city names to GPS coordinates via Nominatim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OSRM Client: Computes exact road distances and baseline travel vectors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Preprocessor Pipeline: Feature encoding and StandardScaler tensor transformation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In-Memory Singleton Model Loader: Sub-50ms execution eliminating model cold starts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00600"/>
            <a:ext cx="10728655" cy="141732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800600"/>
            <a:ext cx="73152" cy="1417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965192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Bahnschrift"/>
              </a:defRPr>
            </a:pPr>
            <a:r>
              <a:t>TIER 3 : DATA PERSISTENCE &amp; REGISTRY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239512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Serialized Model Registry: 19 .pkl and PyTorch TabNet binary weight models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Scaler &amp; Encoders: Pickled preprocessor transformers maintaining feature alignment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Relational Storage: MySQL 8.x / SQLite storing deliveries, predictions, and actuals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Performance Log Warehouse: Historical error analysis for continuous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45720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320040"/>
            <a:ext cx="615665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02336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Bahnschrift"/>
              </a:defRPr>
            </a:pPr>
            <a:r>
              <a:t>SSIPMT RAIPUR  •  DEPARTMENT OF ARTIFICIAL INTELLIGENCE &amp; MACHINE LEARNING  •  5TH SEMESTER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84048"/>
            <a:ext cx="2316175" cy="3200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Bahnschrift"/>
              </a:defRPr>
            </a:pPr>
            <a:r>
              <a:t>DESIGN PHASE  |  7/16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Bahnschrift"/>
              </a:defRPr>
            </a:pPr>
            <a:r>
              <a:t>Data Flow Diagram &amp; Pipeline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Step-by-step path from customer dispatch input to final ETA delivery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456432" cy="210312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73152" cy="210312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810512"/>
            <a:ext cx="731520" cy="320040"/>
          </a:xfrm>
          <a:prstGeom prst="roundRect">
            <a:avLst/>
          </a:prstGeom>
          <a:solidFill>
            <a:srgbClr val="0B0F19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Bahnschrift"/>
              </a:defRPr>
            </a:pPr>
            <a: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Bahnschrift"/>
              </a:defRPr>
            </a:pPr>
            <a:r>
              <a:t>Dispatch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3090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Origin, Destination, Weight, Priority, Shipping Mode entered on Web UI.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645920"/>
            <a:ext cx="3456432" cy="210312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70832" y="1645920"/>
            <a:ext cx="73152" cy="21031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53712" y="1810512"/>
            <a:ext cx="731520" cy="320040"/>
          </a:xfrm>
          <a:prstGeom prst="roundRect">
            <a:avLst/>
          </a:prstGeom>
          <a:solidFill>
            <a:srgbClr val="0B0F19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8BDF8"/>
                </a:solidFill>
                <a:latin typeface="Bahnschrift"/>
              </a:defRPr>
            </a:pPr>
            <a:r>
              <a:t>STEP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2392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Bahnschrift"/>
              </a:defRPr>
            </a:pPr>
            <a:r>
              <a:t>Geocoding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286000"/>
            <a:ext cx="3090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Nominatim Engine converts city strings into GPS Latitude and Longitude.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645920"/>
            <a:ext cx="3456432" cy="210312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10144" y="1645920"/>
            <a:ext cx="73152" cy="21031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93024" y="1810512"/>
            <a:ext cx="731520" cy="320040"/>
          </a:xfrm>
          <a:prstGeom prst="roundRect">
            <a:avLst/>
          </a:prstGeom>
          <a:solidFill>
            <a:srgbClr val="0B0F19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A855F7"/>
                </a:solidFill>
                <a:latin typeface="Bahnschrift"/>
              </a:defRPr>
            </a:pPr>
            <a:r>
              <a:t>STEP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1704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Bahnschrift"/>
              </a:defRPr>
            </a:pPr>
            <a:r>
              <a:t>OSRM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2286000"/>
            <a:ext cx="3090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Queries highway graph to extract exact distance (km) &amp; transit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77639"/>
            <a:ext cx="3456432" cy="210312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3977639"/>
            <a:ext cx="73152" cy="210312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4142231"/>
            <a:ext cx="731520" cy="320040"/>
          </a:xfrm>
          <a:prstGeom prst="roundRect">
            <a:avLst/>
          </a:prstGeom>
          <a:solidFill>
            <a:srgbClr val="0B0F19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B923C"/>
                </a:solidFill>
                <a:latin typeface="Bahnschrift"/>
              </a:defRPr>
            </a:pPr>
            <a:r>
              <a:t>STEP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114799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Bahnschrift"/>
              </a:defRPr>
            </a:pPr>
            <a:r>
              <a:t>Feature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17719"/>
            <a:ext cx="3090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Encodes categorical features and applies StandardScaler normalization.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3977639"/>
            <a:ext cx="3456432" cy="210312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70832" y="3977639"/>
            <a:ext cx="73152" cy="21031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53712" y="4142231"/>
            <a:ext cx="731520" cy="320040"/>
          </a:xfrm>
          <a:prstGeom prst="roundRect">
            <a:avLst/>
          </a:prstGeom>
          <a:solidFill>
            <a:srgbClr val="0B0F1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B981"/>
                </a:solidFill>
                <a:latin typeface="Bahnschrift"/>
              </a:defRPr>
            </a:pPr>
            <a:r>
              <a:t>STEP 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22392" y="4114799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Bahnschrift"/>
              </a:defRPr>
            </a:pPr>
            <a:r>
              <a:t>Model Inference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4617719"/>
            <a:ext cx="3090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Selected ML Model outputs estimated delivery duration in hours.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0144" y="3977639"/>
            <a:ext cx="3456432" cy="210312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10144" y="3977639"/>
            <a:ext cx="73152" cy="210312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93024" y="4142231"/>
            <a:ext cx="731520" cy="320040"/>
          </a:xfrm>
          <a:prstGeom prst="roundRect">
            <a:avLst/>
          </a:prstGeom>
          <a:solidFill>
            <a:srgbClr val="0B0F19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Bahnschrift"/>
              </a:defRPr>
            </a:pPr>
            <a:r>
              <a:t>STEP 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1704" y="4114799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Bahnschrift"/>
              </a:defRPr>
            </a:pPr>
            <a:r>
              <a:t>Render &amp;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3024" y="4617719"/>
            <a:ext cx="3090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Renders map polyline + ETA card on UI; persists record in MySQL database.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45720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320040"/>
            <a:ext cx="615665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02336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Bahnschrift"/>
              </a:defRPr>
            </a:pPr>
            <a:r>
              <a:t>SSIPMT RAIPUR  •  DEPARTMENT OF ARTIFICIAL INTELLIGENCE &amp; MACHINE LEARNING  •  5TH SEMESTER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84048"/>
            <a:ext cx="2316175" cy="3200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Bahnschrift"/>
              </a:defRPr>
            </a:pPr>
            <a:r>
              <a:t>DESIGN PHASE  |  8/16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Bahnschrift"/>
              </a:defRPr>
            </a:pPr>
            <a:r>
              <a:t>Database Design &amp; Relational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Normalized relational schema for persistent shipment tracking and 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56432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73152" cy="46634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64792"/>
            <a:ext cx="3090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Bahnschrift"/>
              </a:defRPr>
            </a:pPr>
            <a:r>
              <a:t>1. deliveries (Shipment Orders)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148840"/>
            <a:ext cx="31272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900">
                <a:solidFill>
                  <a:srgbClr val="00F0FF"/>
                </a:solidFill>
              </a:rPr>
              <a:t>id </a:t>
            </a:r>
            <a:r>
              <a:rPr sz="800">
                <a:solidFill>
                  <a:srgbClr val="94A3B8"/>
                </a:solidFill>
              </a:rPr>
              <a:t>(INTEGER)
</a:t>
            </a:r>
            <a:r>
              <a:rPr sz="850">
                <a:solidFill>
                  <a:srgbClr val="CBD5E1"/>
                </a:solidFill>
              </a:rPr>
              <a:t>  └ PRIMARY KEY, AUTO_INC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0F0FF"/>
                </a:solidFill>
              </a:rPr>
              <a:t>origin_city </a:t>
            </a:r>
            <a:r>
              <a:rPr sz="800">
                <a:solidFill>
                  <a:srgbClr val="94A3B8"/>
                </a:solidFill>
              </a:rPr>
              <a:t>(VARCHAR(100))
</a:t>
            </a:r>
            <a:r>
              <a:rPr sz="850">
                <a:solidFill>
                  <a:srgbClr val="CBD5E1"/>
                </a:solidFill>
              </a:rPr>
              <a:t>  └ Origin Dispatch Hub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0F0FF"/>
                </a:solidFill>
              </a:rPr>
              <a:t>destination_city </a:t>
            </a:r>
            <a:r>
              <a:rPr sz="800">
                <a:solidFill>
                  <a:srgbClr val="94A3B8"/>
                </a:solidFill>
              </a:rPr>
              <a:t>(VARCHAR(100))
</a:t>
            </a:r>
            <a:r>
              <a:rPr sz="850">
                <a:solidFill>
                  <a:srgbClr val="CBD5E1"/>
                </a:solidFill>
              </a:rPr>
              <a:t>  └ Destination Hub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0F0FF"/>
                </a:solidFill>
              </a:rPr>
              <a:t>distance_km </a:t>
            </a:r>
            <a:r>
              <a:rPr sz="800">
                <a:solidFill>
                  <a:srgbClr val="94A3B8"/>
                </a:solidFill>
              </a:rPr>
              <a:t>(FLOAT)
</a:t>
            </a:r>
            <a:r>
              <a:rPr sz="850">
                <a:solidFill>
                  <a:srgbClr val="CBD5E1"/>
                </a:solidFill>
              </a:rPr>
              <a:t>  └ OSRM Highway Route Length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0F0FF"/>
                </a:solidFill>
              </a:rPr>
              <a:t>package_weight_kg </a:t>
            </a:r>
            <a:r>
              <a:rPr sz="800">
                <a:solidFill>
                  <a:srgbClr val="94A3B8"/>
                </a:solidFill>
              </a:rPr>
              <a:t>(FLOAT)
</a:t>
            </a:r>
            <a:r>
              <a:rPr sz="850">
                <a:solidFill>
                  <a:srgbClr val="CBD5E1"/>
                </a:solidFill>
              </a:rPr>
              <a:t>  └ Parcel Payload Mass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0F0FF"/>
                </a:solidFill>
              </a:rPr>
              <a:t>shipping_mode </a:t>
            </a:r>
            <a:r>
              <a:rPr sz="800">
                <a:solidFill>
                  <a:srgbClr val="94A3B8"/>
                </a:solidFill>
              </a:rPr>
              <a:t>(VARCHAR(20))
</a:t>
            </a:r>
            <a:r>
              <a:rPr sz="850">
                <a:solidFill>
                  <a:srgbClr val="CBD5E1"/>
                </a:solidFill>
              </a:rPr>
              <a:t>  └ ROAD, AIR, RAIL, SEA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0F0FF"/>
                </a:solidFill>
              </a:rPr>
              <a:t>priority </a:t>
            </a:r>
            <a:r>
              <a:rPr sz="800">
                <a:solidFill>
                  <a:srgbClr val="94A3B8"/>
                </a:solidFill>
              </a:rPr>
              <a:t>(VARCHAR(20))
</a:t>
            </a:r>
            <a:r>
              <a:rPr sz="850">
                <a:solidFill>
                  <a:srgbClr val="CBD5E1"/>
                </a:solidFill>
              </a:rPr>
              <a:t>  └ STANDARD, EXPRESS, OVERNIGHT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0F0FF"/>
                </a:solidFill>
              </a:rPr>
              <a:t>created_at </a:t>
            </a:r>
            <a:r>
              <a:rPr sz="800">
                <a:solidFill>
                  <a:srgbClr val="94A3B8"/>
                </a:solidFill>
              </a:rPr>
              <a:t>(TIMESTAMP)
</a:t>
            </a:r>
            <a:r>
              <a:rPr sz="850">
                <a:solidFill>
                  <a:srgbClr val="CBD5E1"/>
                </a:solidFill>
              </a:rPr>
              <a:t>  └ Creation Time
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600200"/>
            <a:ext cx="3456432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0832" y="1600200"/>
            <a:ext cx="73152" cy="4663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1764792"/>
            <a:ext cx="3090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Bahnschrift"/>
              </a:defRPr>
            </a:pPr>
            <a:r>
              <a:t>2. predictions (ML Inference Logs)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148840"/>
            <a:ext cx="31272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900">
                <a:solidFill>
                  <a:srgbClr val="10B981"/>
                </a:solidFill>
              </a:rPr>
              <a:t>id </a:t>
            </a:r>
            <a:r>
              <a:rPr sz="800">
                <a:solidFill>
                  <a:srgbClr val="94A3B8"/>
                </a:solidFill>
              </a:rPr>
              <a:t>(INTEGER)
</a:t>
            </a:r>
            <a:r>
              <a:rPr sz="850">
                <a:solidFill>
                  <a:srgbClr val="CBD5E1"/>
                </a:solidFill>
              </a:rPr>
              <a:t>  └ PRIMARY KEY, AUTO_INC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10B981"/>
                </a:solidFill>
              </a:rPr>
              <a:t>delivery_id </a:t>
            </a:r>
            <a:r>
              <a:rPr sz="800">
                <a:solidFill>
                  <a:srgbClr val="94A3B8"/>
                </a:solidFill>
              </a:rPr>
              <a:t>(INTEGER)
</a:t>
            </a:r>
            <a:r>
              <a:rPr sz="850">
                <a:solidFill>
                  <a:srgbClr val="CBD5E1"/>
                </a:solidFill>
              </a:rPr>
              <a:t>  └ FOREIGN KEY -&gt; deliveries.id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10B981"/>
                </a:solidFill>
              </a:rPr>
              <a:t>predicted_eta_hours </a:t>
            </a:r>
            <a:r>
              <a:rPr sz="800">
                <a:solidFill>
                  <a:srgbClr val="94A3B8"/>
                </a:solidFill>
              </a:rPr>
              <a:t>(FLOAT)
</a:t>
            </a:r>
            <a:r>
              <a:rPr sz="850">
                <a:solidFill>
                  <a:srgbClr val="CBD5E1"/>
                </a:solidFill>
              </a:rPr>
              <a:t>  └ Estimated Transit Duration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10B981"/>
                </a:solidFill>
              </a:rPr>
              <a:t>model_used </a:t>
            </a:r>
            <a:r>
              <a:rPr sz="800">
                <a:solidFill>
                  <a:srgbClr val="94A3B8"/>
                </a:solidFill>
              </a:rPr>
              <a:t>(VARCHAR(50))
</a:t>
            </a:r>
            <a:r>
              <a:rPr sz="850">
                <a:solidFill>
                  <a:srgbClr val="CBD5E1"/>
                </a:solidFill>
              </a:rPr>
              <a:t>  └ e.g., 'voting', 'knn'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10B981"/>
                </a:solidFill>
              </a:rPr>
              <a:t>confidence_lower </a:t>
            </a:r>
            <a:r>
              <a:rPr sz="800">
                <a:solidFill>
                  <a:srgbClr val="94A3B8"/>
                </a:solidFill>
              </a:rPr>
              <a:t>(FLOAT)
</a:t>
            </a:r>
            <a:r>
              <a:rPr sz="850">
                <a:solidFill>
                  <a:srgbClr val="CBD5E1"/>
                </a:solidFill>
              </a:rPr>
              <a:t>  └ -30m Tolerance Bound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10B981"/>
                </a:solidFill>
              </a:rPr>
              <a:t>confidence_upper </a:t>
            </a:r>
            <a:r>
              <a:rPr sz="800">
                <a:solidFill>
                  <a:srgbClr val="94A3B8"/>
                </a:solidFill>
              </a:rPr>
              <a:t>(FLOAT)
</a:t>
            </a:r>
            <a:r>
              <a:rPr sz="850">
                <a:solidFill>
                  <a:srgbClr val="CBD5E1"/>
                </a:solidFill>
              </a:rPr>
              <a:t>  └ +30m Tolerance Bound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10B981"/>
                </a:solidFill>
              </a:rPr>
              <a:t>actual_hours </a:t>
            </a:r>
            <a:r>
              <a:rPr sz="800">
                <a:solidFill>
                  <a:srgbClr val="94A3B8"/>
                </a:solidFill>
              </a:rPr>
              <a:t>(FLOAT)
</a:t>
            </a:r>
            <a:r>
              <a:rPr sz="850">
                <a:solidFill>
                  <a:srgbClr val="CBD5E1"/>
                </a:solidFill>
              </a:rPr>
              <a:t>  └ Real Recorded Transit Time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10B981"/>
                </a:solidFill>
              </a:rPr>
              <a:t>absolute_error </a:t>
            </a:r>
            <a:r>
              <a:rPr sz="800">
                <a:solidFill>
                  <a:srgbClr val="94A3B8"/>
                </a:solidFill>
              </a:rPr>
              <a:t>(FLOAT)
</a:t>
            </a:r>
            <a:r>
              <a:rPr sz="850">
                <a:solidFill>
                  <a:srgbClr val="CBD5E1"/>
                </a:solidFill>
              </a:rPr>
              <a:t>  └ Computed Evaluation Error
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600200"/>
            <a:ext cx="3456432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0144" y="1600200"/>
            <a:ext cx="73152" cy="46634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1764792"/>
            <a:ext cx="3090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Bahnschrift"/>
              </a:defRPr>
            </a:pPr>
            <a:r>
              <a:t>3. corridor_analytics (Corridors)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148840"/>
            <a:ext cx="31272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900">
                <a:solidFill>
                  <a:srgbClr val="FBBF24"/>
                </a:solidFill>
              </a:rPr>
              <a:t>corridor_id </a:t>
            </a:r>
            <a:r>
              <a:rPr sz="800">
                <a:solidFill>
                  <a:srgbClr val="94A3B8"/>
                </a:solidFill>
              </a:rPr>
              <a:t>(INTEGER)
</a:t>
            </a:r>
            <a:r>
              <a:rPr sz="850">
                <a:solidFill>
                  <a:srgbClr val="CBD5E1"/>
                </a:solidFill>
              </a:rPr>
              <a:t>  └ PRIMARY KEY, AUTO_INC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FBBF24"/>
                </a:solidFill>
              </a:rPr>
              <a:t>route_code </a:t>
            </a:r>
            <a:r>
              <a:rPr sz="800">
                <a:solidFill>
                  <a:srgbClr val="94A3B8"/>
                </a:solidFill>
              </a:rPr>
              <a:t>(VARCHAR(50))
</a:t>
            </a:r>
            <a:r>
              <a:rPr sz="850">
                <a:solidFill>
                  <a:srgbClr val="CBD5E1"/>
                </a:solidFill>
              </a:rPr>
              <a:t>  └ INDEX (e.g., 'MUM-PUN')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FBBF24"/>
                </a:solidFill>
              </a:rPr>
              <a:t>avg_transit_hours </a:t>
            </a:r>
            <a:r>
              <a:rPr sz="800">
                <a:solidFill>
                  <a:srgbClr val="94A3B8"/>
                </a:solidFill>
              </a:rPr>
              <a:t>(FLOAT)
</a:t>
            </a:r>
            <a:r>
              <a:rPr sz="850">
                <a:solidFill>
                  <a:srgbClr val="CBD5E1"/>
                </a:solidFill>
              </a:rPr>
              <a:t>  └ Moving Historical Average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FBBF24"/>
                </a:solidFill>
              </a:rPr>
              <a:t>congestion_index </a:t>
            </a:r>
            <a:r>
              <a:rPr sz="800">
                <a:solidFill>
                  <a:srgbClr val="94A3B8"/>
                </a:solidFill>
              </a:rPr>
              <a:t>(FLOAT)
</a:t>
            </a:r>
            <a:r>
              <a:rPr sz="850">
                <a:solidFill>
                  <a:srgbClr val="CBD5E1"/>
                </a:solidFill>
              </a:rPr>
              <a:t>  └ Peak-Hour Delay Factor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FBBF24"/>
                </a:solidFill>
              </a:rPr>
              <a:t>weather_impact </a:t>
            </a:r>
            <a:r>
              <a:rPr sz="800">
                <a:solidFill>
                  <a:srgbClr val="94A3B8"/>
                </a:solidFill>
              </a:rPr>
              <a:t>(FLOAT)
</a:t>
            </a:r>
            <a:r>
              <a:rPr sz="850">
                <a:solidFill>
                  <a:srgbClr val="CBD5E1"/>
                </a:solidFill>
              </a:rPr>
              <a:t>  └ Rain/Monsoon Risk Factor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FBBF24"/>
                </a:solidFill>
              </a:rPr>
              <a:t>total_shipments </a:t>
            </a:r>
            <a:r>
              <a:rPr sz="800">
                <a:solidFill>
                  <a:srgbClr val="94A3B8"/>
                </a:solidFill>
              </a:rPr>
              <a:t>(INTEGER)
</a:t>
            </a:r>
            <a:r>
              <a:rPr sz="850">
                <a:solidFill>
                  <a:srgbClr val="CBD5E1"/>
                </a:solidFill>
              </a:rPr>
              <a:t>  └ Corridor Volume Counter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FBBF24"/>
                </a:solidFill>
              </a:rPr>
              <a:t>last_updated </a:t>
            </a:r>
            <a:r>
              <a:rPr sz="800">
                <a:solidFill>
                  <a:srgbClr val="94A3B8"/>
                </a:solidFill>
              </a:rPr>
              <a:t>(DATETIME)
</a:t>
            </a:r>
            <a:r>
              <a:rPr sz="850">
                <a:solidFill>
                  <a:srgbClr val="CBD5E1"/>
                </a:solidFill>
              </a:rPr>
              <a:t>  └ Telemetry Sync Timestamp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45720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320040"/>
            <a:ext cx="615665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02336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Bahnschrift"/>
              </a:defRPr>
            </a:pPr>
            <a:r>
              <a:t>SSIPMT RAIPUR  •  DEPARTMENT OF ARTIFICIAL INTELLIGENCE &amp; MACHINE LEARNING  •  5TH SEMESTER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84048"/>
            <a:ext cx="2316175" cy="3200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Bahnschrift"/>
              </a:defRPr>
            </a:pPr>
            <a:r>
              <a:t>IMPLEMENTATION PHASE  |  9/16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Bahnschrift"/>
              </a:defRPr>
            </a:pPr>
            <a:r>
              <a:t>Machine Learning Methodology: 19 Evaluated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Broad architectural evaluation across 5 algorithmic families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85232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73152" cy="224028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64792"/>
            <a:ext cx="4919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Bahnschrift"/>
              </a:defRPr>
            </a:pPr>
            <a:r>
              <a:t>1. Meta-Ensemble Models (3)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0312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950">
                <a:solidFill>
                  <a:srgbClr val="00F0FF"/>
                </a:solidFill>
              </a:rPr>
              <a:t>Voting Regressor : </a:t>
            </a:r>
            <a:r>
              <a:rPr sz="900">
                <a:solidFill>
                  <a:srgbClr val="CBD5E1"/>
                </a:solidFill>
              </a:rPr>
              <a:t>Soft weighted combination of top gradient boosting &amp; forest models.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0F0FF"/>
                </a:solidFill>
              </a:rPr>
              <a:t>Stacking Regressor : </a:t>
            </a:r>
            <a:r>
              <a:rPr sz="900">
                <a:solidFill>
                  <a:srgbClr val="CBD5E1"/>
                </a:solidFill>
              </a:rPr>
              <a:t>Two-tier meta-learner training a Ridge meta-model on base predictions.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0F0FF"/>
                </a:solidFill>
              </a:rPr>
              <a:t>Bagging Regressor : </a:t>
            </a:r>
            <a:r>
              <a:rPr sz="900">
                <a:solidFill>
                  <a:srgbClr val="CBD5E1"/>
                </a:solidFill>
              </a:rPr>
              <a:t>Bootstrap aggregation reducing prediction variance across noisy corridors.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00200"/>
            <a:ext cx="5285232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1600200"/>
            <a:ext cx="73152" cy="22402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764792"/>
            <a:ext cx="4919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Bahnschrift"/>
              </a:defRPr>
            </a:pPr>
            <a:r>
              <a:t>2. Gradient Boosting Machines (5)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10312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</a:rPr>
              <a:t>CatBoost Regressor : </a:t>
            </a:r>
            <a:r>
              <a:rPr sz="900">
                <a:solidFill>
                  <a:srgbClr val="CBD5E1"/>
                </a:solidFill>
              </a:rPr>
              <a:t>Symmetric trees with native categorical handling and minimal overfitting.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</a:rPr>
              <a:t>LightGBM Regressor : </a:t>
            </a:r>
            <a:r>
              <a:rPr sz="900">
                <a:solidFill>
                  <a:srgbClr val="CBD5E1"/>
                </a:solidFill>
              </a:rPr>
              <a:t>Fast leaf-wise tree growth with histogram-based feature binning.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</a:rPr>
              <a:t>XGBoost Regressor : </a:t>
            </a:r>
            <a:r>
              <a:rPr sz="900">
                <a:solidFill>
                  <a:srgbClr val="CBD5E1"/>
                </a:solidFill>
              </a:rPr>
              <a:t>Extreme gradient boosting with L1/L2 regularization.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</a:rPr>
              <a:t>HistGradientBoosting : </a:t>
            </a:r>
            <a:r>
              <a:rPr sz="900">
                <a:solidFill>
                  <a:srgbClr val="CBD5E1"/>
                </a:solidFill>
              </a:rPr>
              <a:t>Scikit-learn native fast binned boosting.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</a:rPr>
              <a:t>Gradient Boosting : </a:t>
            </a:r>
            <a:r>
              <a:rPr sz="900">
                <a:solidFill>
                  <a:srgbClr val="CBD5E1"/>
                </a:solidFill>
              </a:rPr>
              <a:t>Standard sequential residual gradient boosting.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285232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73152" cy="2240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87952"/>
            <a:ext cx="4919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Bahnschrift"/>
              </a:defRPr>
            </a:pPr>
            <a:r>
              <a:t>3. Tree-Based Models (3)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950">
                <a:solidFill>
                  <a:srgbClr val="10B981"/>
                </a:solidFill>
              </a:rPr>
              <a:t>Random Forest Regressor : </a:t>
            </a:r>
            <a:r>
              <a:rPr sz="900">
                <a:solidFill>
                  <a:srgbClr val="CBD5E1"/>
                </a:solidFill>
              </a:rPr>
              <a:t>100 decorrelated parallel decision trees with sub-feature sampling.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10B981"/>
                </a:solidFill>
              </a:rPr>
              <a:t>Extra Trees Regressor : </a:t>
            </a:r>
            <a:r>
              <a:rPr sz="900">
                <a:solidFill>
                  <a:srgbClr val="CBD5E1"/>
                </a:solidFill>
              </a:rPr>
              <a:t>Extremely randomized trees with random split thresholds.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10B981"/>
                </a:solidFill>
              </a:rPr>
              <a:t>Decision Tree Regressor : </a:t>
            </a:r>
            <a:r>
              <a:rPr sz="900">
                <a:solidFill>
                  <a:srgbClr val="CBD5E1"/>
                </a:solidFill>
              </a:rPr>
              <a:t>Single interpretable CART decision tree baseline.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023360"/>
            <a:ext cx="5285232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99632" y="4023360"/>
            <a:ext cx="73152" cy="22402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4187952"/>
            <a:ext cx="4919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Bahnschrift"/>
              </a:defRPr>
            </a:pPr>
            <a:r>
              <a:t>4. Deep Learning &amp; Baselines (8)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52628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950">
                <a:solidFill>
                  <a:srgbClr val="FBBF24"/>
                </a:solidFill>
              </a:rPr>
              <a:t>PyTorch TabNet : </a:t>
            </a:r>
            <a:r>
              <a:rPr sz="900">
                <a:solidFill>
                  <a:srgbClr val="CBD5E1"/>
                </a:solidFill>
              </a:rPr>
              <a:t>Attentive transformer architecture designed specifically for tabular data.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FBBF24"/>
                </a:solidFill>
              </a:rPr>
              <a:t>Multi-Layer Perceptron (MLP) : </a:t>
            </a:r>
            <a:r>
              <a:rPr sz="900">
                <a:solidFill>
                  <a:srgbClr val="CBD5E1"/>
                </a:solidFill>
              </a:rPr>
              <a:t>Deep neural network with ReLU activations and Adam optimizer.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FBBF24"/>
                </a:solidFill>
              </a:rPr>
              <a:t>KNN &amp; SVR : </a:t>
            </a:r>
            <a:r>
              <a:rPr sz="900">
                <a:solidFill>
                  <a:srgbClr val="CBD5E1"/>
                </a:solidFill>
              </a:rPr>
              <a:t>Distance-based nearest neighbors and support vector regression.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FBBF24"/>
                </a:solidFill>
              </a:rPr>
              <a:t>Linear Baselines : </a:t>
            </a:r>
            <a:r>
              <a:rPr sz="900">
                <a:solidFill>
                  <a:srgbClr val="CBD5E1"/>
                </a:solidFill>
              </a:rPr>
              <a:t>Ordinary Least Squares, Ridge, Lasso, and ElasticNet.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45720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320040"/>
            <a:ext cx="615665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02336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Bahnschrift"/>
              </a:defRPr>
            </a:pPr>
            <a:r>
              <a:t>SSIPMT RAIPUR  •  DEPARTMENT OF ARTIFICIAL INTELLIGENCE &amp; MACHINE LEARNING  •  5TH SEMESTER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84048"/>
            <a:ext cx="2316175" cy="3200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Bahnschrift"/>
              </a:defRPr>
            </a:pPr>
            <a:r>
              <a:t>IMPLEMENTATION PHASE  |  10/16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Bahnschrift"/>
              </a:defRPr>
            </a:pPr>
            <a:r>
              <a:t>Model Benchmark Leaderboard (36,806 Test Shipments)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Rigorous empirical evaluation on unseen Indian validation shipments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00200"/>
          <a:ext cx="75895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194560"/>
                <a:gridCol w="1188720"/>
                <a:gridCol w="1188720"/>
                <a:gridCol w="1188720"/>
                <a:gridCol w="1188720"/>
              </a:tblGrid>
              <a:tr h="51816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0F0FF"/>
                          </a:solidFill>
                          <a:latin typeface="Bahnschrift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C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0F0FF"/>
                          </a:solidFill>
                          <a:latin typeface="Bahnschrift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C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0F0FF"/>
                          </a:solidFill>
                          <a:latin typeface="Bahnschrift"/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1C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0F0FF"/>
                          </a:solidFill>
                          <a:latin typeface="Bahnschrift"/>
                        </a:defRPr>
                      </a:pPr>
                      <a:r>
                        <a:t>RMSE (h)</a:t>
                      </a:r>
                    </a:p>
                  </a:txBody>
                  <a:tcPr>
                    <a:solidFill>
                      <a:srgbClr val="1C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0F0FF"/>
                          </a:solidFill>
                          <a:latin typeface="Bahnschrift"/>
                        </a:defRPr>
                      </a:pPr>
                      <a:r>
                        <a:t>MAE (h)</a:t>
                      </a:r>
                    </a:p>
                  </a:txBody>
                  <a:tcPr>
                    <a:solidFill>
                      <a:srgbClr val="1C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0F0FF"/>
                          </a:solidFill>
                          <a:latin typeface="Bahnschrift"/>
                        </a:defRPr>
                      </a:pPr>
                      <a:r>
                        <a:t>±30m Tol</a:t>
                      </a:r>
                    </a:p>
                  </a:txBody>
                  <a:tcPr>
                    <a:solidFill>
                      <a:srgbClr val="1C26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🥇 1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Voting Regressor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0.9624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2.873 h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1.290 h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56.5%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🥈 2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0.9623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2.877 h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1.281 h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56.8%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🥉 3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Stacking Regressor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0.9622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2.879 h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1.300 h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56.2%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Extra Trees Regressor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0.9622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2.880 h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1.285 h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56.7%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CatBoost Regressor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0.9619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2.891 h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1.309 h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55.7%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LightGBM Regressor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0.9619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2.892 h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1.304 h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56.3%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MLP Neural Network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0.9607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2.934 h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1.333 h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55.3%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Linear Regression (OLS)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0.8495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5.745 h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3.383 h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20.3%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03920" y="1600200"/>
            <a:ext cx="2956255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0" y="1600200"/>
            <a:ext cx="73152" cy="4663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1764792"/>
            <a:ext cx="2590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Bahnschrift"/>
              </a:defRPr>
            </a:pPr>
            <a:r>
              <a:t>Key Benchmark 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148840"/>
            <a:ext cx="268193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10B981"/>
                </a:solidFill>
              </a:rPr>
              <a:t>• Ensemble Superiority: </a:t>
            </a:r>
            <a:r>
              <a:rPr sz="900">
                <a:solidFill>
                  <a:srgbClr val="CBD5E1"/>
                </a:solidFill>
              </a:rPr>
              <a:t>Meta-voting achieves peak R² of 0.9624 by compensating individual model biases.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10B981"/>
                </a:solidFill>
              </a:rPr>
              <a:t>• Low Deviation: </a:t>
            </a:r>
            <a:r>
              <a:rPr sz="900">
                <a:solidFill>
                  <a:srgbClr val="CBD5E1"/>
                </a:solidFill>
              </a:rPr>
              <a:t>Average Mean Absolute Error is just 1.28 hours across thousands of multi-day routes.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10B981"/>
                </a:solidFill>
              </a:rPr>
              <a:t>• Linear Failure: </a:t>
            </a:r>
            <a:r>
              <a:rPr sz="900">
                <a:solidFill>
                  <a:srgbClr val="CBD5E1"/>
                </a:solidFill>
              </a:rPr>
              <a:t>OLS regression performs poorly (0.849 R², 3.38h MAE), proving strong non-linearity.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10B981"/>
                </a:solidFill>
              </a:rPr>
              <a:t>• Real-Time Inference: </a:t>
            </a:r>
            <a:r>
              <a:rPr sz="900">
                <a:solidFill>
                  <a:srgbClr val="CBD5E1"/>
                </a:solidFill>
              </a:rPr>
              <a:t>LightGBM executes in &lt;2ms, making it ideal for live web requests.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45720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320040"/>
            <a:ext cx="615665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02336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Bahnschrift"/>
              </a:defRPr>
            </a:pPr>
            <a:r>
              <a:t>SSIPMT RAIPUR  •  DEPARTMENT OF ARTIFICIAL INTELLIGENCE &amp; MACHINE LEARNING  •  5TH SEMESTER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84048"/>
            <a:ext cx="2316175" cy="3200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Bahnschrift"/>
              </a:defRPr>
            </a:pPr>
            <a:r>
              <a:t>IMPLEMENTATION PHASE  |  11/16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Bahnschrift"/>
              </a:defRPr>
            </a:pPr>
            <a:r>
              <a:t>Novelty: 50km Distance Interval Routing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Empirical evaluation across 48 brackets with 912,000 total model inferences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36192"/>
            <a:ext cx="10728655" cy="548640"/>
          </a:xfrm>
          <a:prstGeom prst="roundRect">
            <a:avLst/>
          </a:prstGeom>
          <a:solidFill>
            <a:srgbClr val="151D2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F0FF"/>
                </a:solidFill>
                <a:latin typeface="Bahnschrift"/>
              </a:defRPr>
            </a:pPr>
            <a:r>
              <a:t>CORRIDOR RULEBOOK  •  48 Brackets of 50 km (0 to 2,400 km)  •  1,000 Inferences/Bracket  •  Real Data Driven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3456432" cy="2011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240280"/>
            <a:ext cx="73152" cy="201168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404872"/>
            <a:ext cx="3090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Bahnschrift"/>
              </a:defRPr>
            </a:pPr>
            <a:r>
              <a:t>Hyperlocal &amp; Intra-City (0 - 50 km)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743200"/>
            <a:ext cx="31272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b="1" sz="900">
                <a:solidFill>
                  <a:srgbClr val="00F0FF"/>
                </a:solidFill>
              </a:rPr>
              <a:t>Domain : </a:t>
            </a:r>
            <a:r>
              <a:rPr sz="900">
                <a:solidFill>
                  <a:srgbClr val="CBD5E1"/>
                </a:solidFill>
              </a:rPr>
              <a:t>Urban Two-Wheelers / Zomato / Swiggy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00F0FF"/>
                </a:solidFill>
              </a:rPr>
              <a:t>Top Model : </a:t>
            </a:r>
            <a:r>
              <a:rPr sz="900">
                <a:solidFill>
                  <a:srgbClr val="CBD5E1"/>
                </a:solidFill>
              </a:rPr>
              <a:t>KNN / Bagging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00F0FF"/>
                </a:solidFill>
              </a:rPr>
              <a:t>Best MAE : </a:t>
            </a:r>
            <a:r>
              <a:rPr sz="900">
                <a:solidFill>
                  <a:srgbClr val="CBD5E1"/>
                </a:solidFill>
              </a:rPr>
              <a:t>0.022 h (~1.3 mins)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00F0FF"/>
                </a:solidFill>
              </a:rPr>
              <a:t>Accuracy / Tol : </a:t>
            </a:r>
            <a:r>
              <a:rPr sz="900">
                <a:solidFill>
                  <a:srgbClr val="CBD5E1"/>
                </a:solidFill>
              </a:rPr>
              <a:t>97.1%  (±30m: 99.1%)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2240280"/>
            <a:ext cx="3456432" cy="2011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70832" y="2240280"/>
            <a:ext cx="73152" cy="20116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2404872"/>
            <a:ext cx="3090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Bahnschrift"/>
              </a:defRPr>
            </a:pPr>
            <a:r>
              <a:t>Metro Suburbs (50 - 150 km)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743200"/>
            <a:ext cx="31272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b="1" sz="900">
                <a:solidFill>
                  <a:srgbClr val="38BDF8"/>
                </a:solidFill>
              </a:rPr>
              <a:t>Domain : </a:t>
            </a:r>
            <a:r>
              <a:rPr sz="900">
                <a:solidFill>
                  <a:srgbClr val="CBD5E1"/>
                </a:solidFill>
              </a:rPr>
              <a:t>Intra-City Delivery Vans &amp; Couriers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38BDF8"/>
                </a:solidFill>
              </a:rPr>
              <a:t>Top Model : </a:t>
            </a:r>
            <a:r>
              <a:rPr sz="900">
                <a:solidFill>
                  <a:srgbClr val="CBD5E1"/>
                </a:solidFill>
              </a:rPr>
              <a:t>KNN / Decision Tree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38BDF8"/>
                </a:solidFill>
              </a:rPr>
              <a:t>Best MAE : </a:t>
            </a:r>
            <a:r>
              <a:rPr sz="900">
                <a:solidFill>
                  <a:srgbClr val="CBD5E1"/>
                </a:solidFill>
              </a:rPr>
              <a:t>0.165 h (~9.9 mins)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38BDF8"/>
                </a:solidFill>
              </a:rPr>
              <a:t>Accuracy / Tol : </a:t>
            </a:r>
            <a:r>
              <a:rPr sz="900">
                <a:solidFill>
                  <a:srgbClr val="CBD5E1"/>
                </a:solidFill>
              </a:rPr>
              <a:t>96.5%  (±30m: 91.3%)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240280"/>
            <a:ext cx="3456432" cy="2011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0144" y="2240280"/>
            <a:ext cx="73152" cy="20116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404872"/>
            <a:ext cx="3090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855F7"/>
                </a:solidFill>
                <a:latin typeface="Bahnschrift"/>
              </a:defRPr>
            </a:pPr>
            <a:r>
              <a:t>Regional Corridors (150 - 400 km)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743200"/>
            <a:ext cx="31272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b="1" sz="900">
                <a:solidFill>
                  <a:srgbClr val="A855F7"/>
                </a:solidFill>
              </a:rPr>
              <a:t>Domain : </a:t>
            </a:r>
            <a:r>
              <a:rPr sz="900">
                <a:solidFill>
                  <a:srgbClr val="CBD5E1"/>
                </a:solidFill>
              </a:rPr>
              <a:t>State Highway Feeder Logistics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A855F7"/>
                </a:solidFill>
              </a:rPr>
              <a:t>Top Model : </a:t>
            </a:r>
            <a:r>
              <a:rPr sz="900">
                <a:solidFill>
                  <a:srgbClr val="CBD5E1"/>
                </a:solidFill>
              </a:rPr>
              <a:t>KNN / Decision Tree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A855F7"/>
                </a:solidFill>
              </a:rPr>
              <a:t>Best MAE : </a:t>
            </a:r>
            <a:r>
              <a:rPr sz="900">
                <a:solidFill>
                  <a:srgbClr val="CBD5E1"/>
                </a:solidFill>
              </a:rPr>
              <a:t>0.300 h (~18 mins)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A855F7"/>
                </a:solidFill>
              </a:rPr>
              <a:t>Accuracy / Tol : </a:t>
            </a:r>
            <a:r>
              <a:rPr sz="900">
                <a:solidFill>
                  <a:srgbClr val="CBD5E1"/>
                </a:solidFill>
              </a:rPr>
              <a:t>97.6%  (±30m: 85.6%)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3456432" cy="2011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4389120"/>
            <a:ext cx="73152" cy="2011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553712"/>
            <a:ext cx="3090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Bahnschrift"/>
              </a:defRPr>
            </a:pPr>
            <a:r>
              <a:t>Interstate Freight (400 - 800 km)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892040"/>
            <a:ext cx="31272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b="1" sz="900">
                <a:solidFill>
                  <a:srgbClr val="10B981"/>
                </a:solidFill>
              </a:rPr>
              <a:t>Domain : </a:t>
            </a:r>
            <a:r>
              <a:rPr sz="900">
                <a:solidFill>
                  <a:srgbClr val="CBD5E1"/>
                </a:solidFill>
              </a:rPr>
              <a:t>Multi-Axle Heavy Highway Trucks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10B981"/>
                </a:solidFill>
              </a:rPr>
              <a:t>Top Model : </a:t>
            </a:r>
            <a:r>
              <a:rPr sz="900">
                <a:solidFill>
                  <a:srgbClr val="CBD5E1"/>
                </a:solidFill>
              </a:rPr>
              <a:t>KNN / Decision Tree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10B981"/>
                </a:solidFill>
              </a:rPr>
              <a:t>Best MAE : </a:t>
            </a:r>
            <a:r>
              <a:rPr sz="900">
                <a:solidFill>
                  <a:srgbClr val="CBD5E1"/>
                </a:solidFill>
              </a:rPr>
              <a:t>0.564 h (~33 mins)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10B981"/>
                </a:solidFill>
              </a:rPr>
              <a:t>Accuracy / Tol : </a:t>
            </a:r>
            <a:r>
              <a:rPr sz="900">
                <a:solidFill>
                  <a:srgbClr val="CBD5E1"/>
                </a:solidFill>
              </a:rPr>
              <a:t>97.7%  (±30m: 82.8%)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4389120"/>
            <a:ext cx="3456432" cy="2011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70832" y="4389120"/>
            <a:ext cx="73152" cy="20116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4553712"/>
            <a:ext cx="3090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Bahnschrift"/>
              </a:defRPr>
            </a:pPr>
            <a:r>
              <a:t>Long-Haul Express (800 - 1500 km)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4" y="4892040"/>
            <a:ext cx="31272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b="1" sz="900">
                <a:solidFill>
                  <a:srgbClr val="FBBF24"/>
                </a:solidFill>
              </a:rPr>
              <a:t>Domain : </a:t>
            </a:r>
            <a:r>
              <a:rPr sz="900">
                <a:solidFill>
                  <a:srgbClr val="CBD5E1"/>
                </a:solidFill>
              </a:rPr>
              <a:t>Dedicated Freight Corridor / Rail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FBBF24"/>
                </a:solidFill>
              </a:rPr>
              <a:t>Top Model : </a:t>
            </a:r>
            <a:r>
              <a:rPr sz="900">
                <a:solidFill>
                  <a:srgbClr val="CBD5E1"/>
                </a:solidFill>
              </a:rPr>
              <a:t>KNN / Extra Trees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FBBF24"/>
                </a:solidFill>
              </a:rPr>
              <a:t>Best MAE : </a:t>
            </a:r>
            <a:r>
              <a:rPr sz="900">
                <a:solidFill>
                  <a:srgbClr val="CBD5E1"/>
                </a:solidFill>
              </a:rPr>
              <a:t>0.798 h (~47 mins)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FBBF24"/>
                </a:solidFill>
              </a:rPr>
              <a:t>Accuracy / Tol : </a:t>
            </a:r>
            <a:r>
              <a:rPr sz="900">
                <a:solidFill>
                  <a:srgbClr val="CBD5E1"/>
                </a:solidFill>
              </a:rPr>
              <a:t>97.8%  (±30m: 82.9%)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0144" y="4389120"/>
            <a:ext cx="3456432" cy="2011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10144" y="4389120"/>
            <a:ext cx="73152" cy="201168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8744" y="4553712"/>
            <a:ext cx="3090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Bahnschrift"/>
              </a:defRPr>
            </a:pPr>
            <a:r>
              <a:t>Trans-National (&gt; 1500 km)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4892040"/>
            <a:ext cx="31272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b="1" sz="900">
                <a:solidFill>
                  <a:srgbClr val="F43F5E"/>
                </a:solidFill>
              </a:rPr>
              <a:t>Domain : </a:t>
            </a:r>
            <a:r>
              <a:rPr sz="900">
                <a:solidFill>
                  <a:srgbClr val="CBD5E1"/>
                </a:solidFill>
              </a:rPr>
              <a:t>Cross-Country Intermodal Freight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F43F5E"/>
                </a:solidFill>
              </a:rPr>
              <a:t>Top Model : </a:t>
            </a:r>
            <a:r>
              <a:rPr sz="900">
                <a:solidFill>
                  <a:srgbClr val="CBD5E1"/>
                </a:solidFill>
              </a:rPr>
              <a:t>KNN / Meta-Voting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F43F5E"/>
                </a:solidFill>
              </a:rPr>
              <a:t>Best MAE : </a:t>
            </a:r>
            <a:r>
              <a:rPr sz="900">
                <a:solidFill>
                  <a:srgbClr val="CBD5E1"/>
                </a:solidFill>
              </a:rPr>
              <a:t>1.295 h (~77 mins)</a:t>
            </a:r>
          </a:p>
          <a:p>
            <a:pPr>
              <a:spcAft>
                <a:spcPts val="100"/>
              </a:spcAft>
            </a:pPr>
            <a:r>
              <a:rPr b="1" sz="900">
                <a:solidFill>
                  <a:srgbClr val="F43F5E"/>
                </a:solidFill>
              </a:rPr>
              <a:t>Accuracy / Tol : </a:t>
            </a:r>
            <a:r>
              <a:rPr sz="900">
                <a:solidFill>
                  <a:srgbClr val="CBD5E1"/>
                </a:solidFill>
              </a:rPr>
              <a:t>97.8%  (±30m: 80.9%)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45720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320040"/>
            <a:ext cx="615665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02336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Bahnschrift"/>
              </a:defRPr>
            </a:pPr>
            <a:r>
              <a:t>SSIPMT RAIPUR  •  DEPARTMENT OF ARTIFICIAL INTELLIGENCE &amp; MACHINE LEARNING  •  5TH SEMESTER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84048"/>
            <a:ext cx="2316175" cy="3200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Bahnschrift"/>
              </a:defRPr>
            </a:pPr>
            <a:r>
              <a:t>INNOVATION PHASE  |  12/16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Bahnschrift"/>
              </a:defRPr>
            </a:pPr>
            <a:r>
              <a:t>Novelty: Fine-Tuned Laya SLM &amp; Dual-Tier Meta-Router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ModernBERT-421M parameter on-device neural dispatcher running on RTX 3050 CUDA GPU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36192"/>
            <a:ext cx="10728655" cy="548640"/>
          </a:xfrm>
          <a:prstGeom prst="roundRect">
            <a:avLst/>
          </a:prstGeom>
          <a:solidFill>
            <a:srgbClr val="151D2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A855F7"/>
                </a:solidFill>
                <a:latin typeface="Bahnschrift"/>
              </a:defRPr>
            </a:pPr>
            <a:r>
              <a:t>BREAKTHROUGH  •  Zero-Shot Bias 19.48% ➔ 99.35% Fine-Tuned Accuracy (+79.87% Gain)  •  ~45ms CUDA  •  Loss 0.0176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5212080" cy="411480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194560"/>
            <a:ext cx="73152" cy="411480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5915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Bahnschrift"/>
              </a:defRPr>
            </a:pPr>
            <a:r>
              <a:t>On-Device SLM Fine-Tuning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974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950">
                <a:solidFill>
                  <a:srgbClr val="00F0FF"/>
                </a:solidFill>
              </a:rPr>
              <a:t>• Backbone Architecture: </a:t>
            </a:r>
            <a:r>
              <a:rPr sz="900">
                <a:solidFill>
                  <a:srgbClr val="CBD5E1"/>
                </a:solidFill>
              </a:rPr>
              <a:t>convaiinnovations/laya-typed-decisions based on ModernBERT-421M (8,192 token context window, unpadded flash attention).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00F0FF"/>
                </a:solidFill>
              </a:rPr>
              <a:t>• Zero-Shot Bias Discovery: </a:t>
            </a:r>
            <a:r>
              <a:rPr sz="900">
                <a:solidFill>
                  <a:srgbClr val="CBD5E1"/>
                </a:solidFill>
              </a:rPr>
              <a:t>Pre-trained base model collapsed to LightGBM (~80% bias, only 19.48% accuracy), unable to parse multi-token Indian freight metrics like '18.5 km'.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00F0FF"/>
                </a:solidFill>
              </a:rPr>
              <a:t>• Data Distillation Corpus: </a:t>
            </a:r>
            <a:r>
              <a:rPr sz="900">
                <a:solidFill>
                  <a:srgbClr val="CBD5E1"/>
                </a:solidFill>
              </a:rPr>
              <a:t>Synthesized 1,540 balanced, stratified decision contracts directly from 184,000+ real delivery journeys into JSONL schema.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00F0FF"/>
                </a:solidFill>
              </a:rPr>
              <a:t>• Empirical Convergence: </a:t>
            </a:r>
            <a:r>
              <a:rPr sz="900">
                <a:solidFill>
                  <a:srgbClr val="CBD5E1"/>
                </a:solidFill>
              </a:rPr>
              <a:t>Trained over 5 epochs with AdamW (lr=5e-5). Cross-entropy loss plunged to 0.0176, achieving 99.35% accuracy and an ultra-calibrated ECE of 0.0077.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2194560"/>
            <a:ext cx="5212080" cy="411480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8095" y="2194560"/>
            <a:ext cx="73152" cy="4114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6695" y="235915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Bahnschrift"/>
              </a:defRPr>
            </a:pPr>
            <a:r>
              <a:t>Dual-Tier Router &amp; 4-Tier Fallback Hierarchy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6695" y="26974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10B981"/>
                </a:solidFill>
              </a:rPr>
              <a:t>• Tier 1 (Neural SLM): </a:t>
            </a:r>
            <a:r>
              <a:rPr sz="900">
                <a:solidFill>
                  <a:srgbClr val="CBD5E1"/>
                </a:solidFill>
              </a:rPr>
              <a:t>Fine-Tuned Laya ModernBERT on RTX 3050 Laptop GPU (1.4GB VRAM, ~45ms latency) performing semantic route reasoning.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0B981"/>
                </a:solidFill>
              </a:rPr>
              <a:t>• Tier 1.5 (Empirical Meta-Router): </a:t>
            </a:r>
            <a:r>
              <a:rPr sz="900">
                <a:solidFill>
                  <a:srgbClr val="CBD5E1"/>
                </a:solidFill>
              </a:rPr>
              <a:t>Fast decision tree meta-classifier (meta_router.pkl) achieving 100% in-sample fidelity in &lt;0.4ms on CPU.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0B981"/>
                </a:solidFill>
              </a:rPr>
              <a:t>• Tier 2 (Local LLM Server): </a:t>
            </a:r>
            <a:r>
              <a:rPr sz="900">
                <a:solidFill>
                  <a:srgbClr val="CBD5E1"/>
                </a:solidFill>
              </a:rPr>
              <a:t>LM Studio OpenAI-compatible endpoint (/v1/chat/completions) for complex corridor explanations.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0B981"/>
                </a:solidFill>
              </a:rPr>
              <a:t>• Tier 3 (Deterministic Heuristics): </a:t>
            </a:r>
            <a:r>
              <a:rPr sz="900">
                <a:solidFill>
                  <a:srgbClr val="CBD5E1"/>
                </a:solidFill>
              </a:rPr>
              <a:t>Guaranteed zero-failure corridor matrix fallback if hardware experiences extreme load.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0B981"/>
                </a:solidFill>
              </a:rPr>
              <a:t>• Live Verified Corridors: </a:t>
            </a:r>
            <a:r>
              <a:rPr sz="900">
                <a:solidFill>
                  <a:srgbClr val="CBD5E1"/>
                </a:solidFill>
              </a:rPr>
              <a:t>Monsoon Rain ➔ CatBoost (100% conf)  |  Dense Fog ➔ HistGradientBoosting (100%)  |  Interstate ➔ Voting (100%)  |  Hyperlocal ➔ Bagging (99.8%)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45720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320040"/>
            <a:ext cx="615665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02336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Bahnschrift"/>
              </a:defRPr>
            </a:pPr>
            <a:r>
              <a:t>SSIPMT RAIPUR  •  DEPARTMENT OF ARTIFICIAL INTELLIGENCE &amp; MACHINE LEARNING  •  5TH SEMESTER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84048"/>
            <a:ext cx="2316175" cy="3200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Bahnschrift"/>
              </a:defRPr>
            </a:pPr>
            <a:r>
              <a:t>IMPLEMENTATION PHASE  |  13/16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Bahnschrift"/>
              </a:defRPr>
            </a:pPr>
            <a:r>
              <a:t>Full-Stack Web Application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Production-grade Flask microservices integrated with Leaflet &amp; OSRM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73152" cy="46634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6479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Bahnschrift"/>
              </a:defRPr>
            </a:pPr>
            <a:r>
              <a:t>REST API Microservices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488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00F0FF"/>
                </a:solidFill>
              </a:rPr>
              <a:t>POST /api/predict
</a:t>
            </a:r>
            <a:r>
              <a:rPr sz="900">
                <a:solidFill>
                  <a:srgbClr val="CBD5E1"/>
                </a:solidFill>
              </a:rPr>
              <a:t>Core ML inference route. Ingests origin, destination, weight, package type, priority, and shipping mode. Evaluated by Laya SLM &amp; returns optimal model ETA.
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F0FF"/>
                </a:solidFill>
              </a:rPr>
              <a:t>GET /api/history
</a:t>
            </a:r>
            <a:r>
              <a:rPr sz="900">
                <a:solidFill>
                  <a:srgbClr val="CBD5E1"/>
                </a:solidFill>
              </a:rPr>
              <a:t>Queries past deliveries with pagination, returning actual vs predicted accuracy metrics for monitoring.
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F0FF"/>
                </a:solidFill>
              </a:rPr>
              <a:t>GET /api/analytics/corridors
</a:t>
            </a:r>
            <a:r>
              <a:rPr sz="900">
                <a:solidFill>
                  <a:srgbClr val="CBD5E1"/>
                </a:solidFill>
              </a:rPr>
              <a:t>Aggregates latency and congestion metrics across high-frequency Indian highway corridors.
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F0FF"/>
                </a:solidFill>
              </a:rPr>
              <a:t>GET /api/health
</a:t>
            </a:r>
            <a:r>
              <a:rPr sz="900">
                <a:solidFill>
                  <a:srgbClr val="CBD5E1"/>
                </a:solidFill>
              </a:rPr>
              <a:t>System health probe checking database connections, model registry status, and GPU SLM availability.
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600200"/>
            <a:ext cx="5212080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8095" y="1600200"/>
            <a:ext cx="73152" cy="4663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76479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Bahnschrift"/>
              </a:defRPr>
            </a:pPr>
            <a:r>
              <a:t>Frontend UI &amp; Engine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1488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10B981"/>
                </a:solidFill>
              </a:rPr>
              <a:t>• SLM Route Decision Badge: </a:t>
            </a:r>
            <a:r>
              <a:rPr sz="900">
                <a:solidFill>
                  <a:srgbClr val="CBD5E1"/>
                </a:solidFill>
              </a:rPr>
              <a:t>Renders purple badge with model confidence % and physical corridor reasoning.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10B981"/>
                </a:solidFill>
              </a:rPr>
              <a:t>• Interactive Leaflet Routing: </a:t>
            </a:r>
            <a:r>
              <a:rPr sz="900">
                <a:solidFill>
                  <a:srgbClr val="CBD5E1"/>
                </a:solidFill>
              </a:rPr>
              <a:t>Renders true highway geometry between Indian cities using GeoJSON vector decoding.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10B981"/>
                </a:solidFill>
              </a:rPr>
              <a:t>• Real-Time Weather Integration: </a:t>
            </a:r>
            <a:r>
              <a:rPr sz="900">
                <a:solidFill>
                  <a:srgbClr val="CBD5E1"/>
                </a:solidFill>
              </a:rPr>
              <a:t>OpenWeatherMap API triggers visual rain/storm delay alerts for delivery dispatchers.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10B981"/>
                </a:solidFill>
              </a:rPr>
              <a:t>• Multi-Model Studio Comparison: </a:t>
            </a:r>
            <a:r>
              <a:rPr sz="900">
                <a:solidFill>
                  <a:srgbClr val="CBD5E1"/>
                </a:solidFill>
              </a:rPr>
              <a:t>Runs all 12 algorithms side-by-side in real-time to analyze algorithm divergence.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10B981"/>
                </a:solidFill>
              </a:rPr>
              <a:t>• Responsive Design: </a:t>
            </a:r>
            <a:r>
              <a:rPr sz="900">
                <a:solidFill>
                  <a:srgbClr val="CBD5E1"/>
                </a:solidFill>
              </a:rPr>
              <a:t>Modern glassmorphic interface accessible across mobile, tablet, and desktop dispatch screens.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45720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320040"/>
            <a:ext cx="615665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02336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Bahnschrift"/>
              </a:defRPr>
            </a:pPr>
            <a:r>
              <a:t>SSIPMT RAIPUR  •  DEPARTMENT OF ARTIFICIAL INTELLIGENCE &amp; MACHINE LEARNING  •  5TH SEMESTER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84048"/>
            <a:ext cx="2316175" cy="3200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Bahnschrift"/>
              </a:defRPr>
            </a:pPr>
            <a:r>
              <a:t>IMPLEMENTATION PHASE  |  14/16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Bahnschrift"/>
              </a:defRPr>
            </a:pPr>
            <a:r>
              <a:t>System Demonstration &amp; Working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Visual user journey across dispatch planning and intelligence delivery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85232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73152" cy="224028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64792"/>
            <a:ext cx="4919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Bahnschrift"/>
              </a:defRPr>
            </a:pPr>
            <a:r>
              <a:t>Screen 1 : Dispatch Order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0312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Dispatcher inputs Origin (e.g. Mumbai) &amp; Destination (e.g. Pune/Raipur)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Sets payload weight in kg, priority (Express/Standard), and shipping mode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Built-in client validation &amp; Nominatim autocomplete instant 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00200"/>
            <a:ext cx="5285232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1600200"/>
            <a:ext cx="73152" cy="22402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764792"/>
            <a:ext cx="4919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Bahnschrift"/>
              </a:defRPr>
            </a:pPr>
            <a:r>
              <a:t>Screen 2 : Dynamic Map &amp; Corridor Preview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10312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Leaflet map displays real-world highway polyline route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Highlights computed road distance (e.g., 148.5 km) &amp; transit baseline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Overlays live corridor congestion index and local weather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285232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73152" cy="2240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87952"/>
            <a:ext cx="4919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Bahnschrift"/>
              </a:defRPr>
            </a:pPr>
            <a:r>
              <a:t>Screen 3 : AI ETA Prediction &amp; SLM Badge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Displays formatted ETA (e.g., '3 Hours 42 Mins') with confidence bar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Renders Laya SLM chosen model badge with physical reason log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Multi-modal transit comparison (Truck vs Train vs Air Freight)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023360"/>
            <a:ext cx="5285232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99632" y="4023360"/>
            <a:ext cx="73152" cy="22402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4187952"/>
            <a:ext cx="4919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Bahnschrift"/>
              </a:defRPr>
            </a:pPr>
            <a:r>
              <a:t>Screen 4 : Shipment History &amp; Audit 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52628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Complete historical log of executed predictions in MySQL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Error variance tracking comparing predicted ETA vs actual arrival time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• Performance analytics across major Indian intercity corridors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45720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320040"/>
            <a:ext cx="615665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02336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Bahnschrift"/>
              </a:defRPr>
            </a:pPr>
            <a:r>
              <a:t>SSIPMT RAIPUR  •  DEPARTMENT OF ARTIFICIAL INTELLIGENCE &amp; MACHINE LEARNING  •  5TH SEMESTER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84048"/>
            <a:ext cx="2316175" cy="3200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Bahnschrift"/>
              </a:defRPr>
            </a:pPr>
            <a:r>
              <a:t>RESULTS &amp; ROADMAP  |  15/16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Bahnschrift"/>
              </a:defRPr>
            </a:pPr>
            <a:r>
              <a:t>Project Progress Status &amp; Future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Completed deliverables for Review 3 vs planned enhancements for Final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73152" cy="4663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6479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Bahnschrift"/>
              </a:defRPr>
            </a:pPr>
            <a:r>
              <a:t>Completed Milestones (Review 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488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</a:rPr>
              <a:t>✔ Ingested &amp; Merged 184,000+ Records : </a:t>
            </a:r>
            <a:r>
              <a:rPr sz="900">
                <a:solidFill>
                  <a:srgbClr val="CBD5E1"/>
                </a:solidFill>
              </a:rPr>
              <a:t>Unified Delhivery, Amazon India, and Bangalore traffic datasets into standardized schema.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</a:rPr>
              <a:t>✔ 19-Model Machine Learning Benchmark : </a:t>
            </a:r>
            <a:r>
              <a:rPr sz="900">
                <a:solidFill>
                  <a:srgbClr val="CBD5E1"/>
                </a:solidFill>
              </a:rPr>
              <a:t>Trained, tuned, and evaluated 19 algorithms (Peak R²: 0.9624, MAE: 1.28h).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</a:rPr>
              <a:t>✔ Fine-Tuned Laya SLM Meta-Router : </a:t>
            </a:r>
            <a:r>
              <a:rPr sz="900">
                <a:solidFill>
                  <a:srgbClr val="CBD5E1"/>
                </a:solidFill>
              </a:rPr>
              <a:t>Fine-tuned ModernBERT-421M on RTX 3050 CUDA GPU, jumping from 19.48% to 99.35% accuracy in 45ms.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</a:rPr>
              <a:t>✔ 4-Tier Self-Healing Resilience : </a:t>
            </a:r>
            <a:r>
              <a:rPr sz="900">
                <a:solidFill>
                  <a:srgbClr val="CBD5E1"/>
                </a:solidFill>
              </a:rPr>
              <a:t>Zero-downtime cascading fallback (SLM ➔ Meta-Router ➔ LM Studio ➔ Heuristics).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</a:rPr>
              <a:t>✔ Production Full-Stack Web App : </a:t>
            </a:r>
            <a:r>
              <a:rPr sz="900">
                <a:solidFill>
                  <a:srgbClr val="CBD5E1"/>
                </a:solidFill>
              </a:rPr>
              <a:t>Working Flask + Leaflet system with live OSRM routing and multi-modal comparison.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600200"/>
            <a:ext cx="5212080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8095" y="1600200"/>
            <a:ext cx="73152" cy="46634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76479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Bahnschrift"/>
              </a:defRPr>
            </a:pPr>
            <a:r>
              <a:t>Roadmap for Final Review (Major Phase)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1488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38BDF8"/>
                </a:solidFill>
              </a:rPr>
              <a:t>1. Real-Time GPS IoT Tracking : </a:t>
            </a:r>
            <a:r>
              <a:rPr sz="900">
                <a:solidFill>
                  <a:srgbClr val="CBD5E1"/>
                </a:solidFill>
              </a:rPr>
              <a:t>Integrate live vehicle telematics to recalculate ETAs dynamically while the vehicle is in transit.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38BDF8"/>
                </a:solidFill>
              </a:rPr>
              <a:t>2. Automated MLOps Retraining : </a:t>
            </a:r>
            <a:r>
              <a:rPr sz="900">
                <a:solidFill>
                  <a:srgbClr val="CBD5E1"/>
                </a:solidFill>
              </a:rPr>
              <a:t>Periodic pipeline triggered automatically when new shipment ground truth records are logged.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38BDF8"/>
                </a:solidFill>
              </a:rPr>
              <a:t>3. Progressive Web App (PWA) : </a:t>
            </a:r>
            <a:r>
              <a:rPr sz="900">
                <a:solidFill>
                  <a:srgbClr val="CBD5E1"/>
                </a:solidFill>
              </a:rPr>
              <a:t>Mobile-first offline dispatch view for delivery drivers with SMS ETA alerts for customers.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38BDF8"/>
                </a:solidFill>
              </a:rPr>
              <a:t>4. Cloud Containerization : </a:t>
            </a:r>
            <a:r>
              <a:rPr sz="900">
                <a:solidFill>
                  <a:srgbClr val="CBD5E1"/>
                </a:solidFill>
              </a:rPr>
              <a:t>Production deployment on cloud infrastructure using Docker and managed MySQL.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45720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320040"/>
            <a:ext cx="615665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02336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Bahnschrift"/>
              </a:defRPr>
            </a:pPr>
            <a:r>
              <a:t>SSIPMT RAIPUR  •  DEPARTMENT OF ARTIFICIAL INTELLIGENCE &amp; MACHINE LEARNING  •  5TH SEMESTER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84048"/>
            <a:ext cx="2316175" cy="3200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Bahnschrift"/>
              </a:defRPr>
            </a:pPr>
            <a:r>
              <a:t>CONCLUSION  |  16/16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Bahnschrift"/>
              </a:defRPr>
            </a:pPr>
            <a:r>
              <a:t>Conclusion, References &amp; Open Discussion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73152" cy="46634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6479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Bahnschrift"/>
              </a:defRPr>
            </a:pPr>
            <a:r>
              <a:t>Project Conclusions &amp;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950">
                <a:solidFill>
                  <a:srgbClr val="00F0FF"/>
                </a:solidFill>
              </a:rPr>
              <a:t>• Intelligent ETA Engine : </a:t>
            </a:r>
            <a:r>
              <a:rPr sz="900">
                <a:solidFill>
                  <a:srgbClr val="CBD5E1"/>
                </a:solidFill>
              </a:rPr>
              <a:t>Replaced error-prone heuristic assumptions with 19 benchmarked algorithms trained on 184k+ real Indian logistics records.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0F0FF"/>
                </a:solidFill>
              </a:rPr>
              <a:t>• High Prediction Precision : </a:t>
            </a:r>
            <a:r>
              <a:rPr sz="900">
                <a:solidFill>
                  <a:srgbClr val="CBD5E1"/>
                </a:solidFill>
              </a:rPr>
              <a:t>Voting Regressor achieved 0.9624 R² accuracy with an average error of just 1.28 hours across long-haul interstate routes.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0F0FF"/>
                </a:solidFill>
              </a:rPr>
              <a:t>• Dynamic Neural Meta-Routing : </a:t>
            </a:r>
            <a:r>
              <a:rPr sz="900">
                <a:solidFill>
                  <a:srgbClr val="CBD5E1"/>
                </a:solidFill>
              </a:rPr>
              <a:t>Fine-tuned ModernBERT-421M SLM achieves 99.35% routing accuracy, dispatching to specialized algorithms in ~45ms.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0F0FF"/>
                </a:solidFill>
              </a:rPr>
              <a:t>• Zero-Cost Self-Healing Stack : </a:t>
            </a:r>
            <a:r>
              <a:rPr sz="900">
                <a:solidFill>
                  <a:srgbClr val="CBD5E1"/>
                </a:solidFill>
              </a:rPr>
              <a:t>Leverages OSRM, local CUDA GPU acceleration, and 4-tier fallbacks eliminating recurring commercial API fees.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1600200"/>
            <a:ext cx="5212080" cy="310896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7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8095" y="1600200"/>
            <a:ext cx="73152" cy="3108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6695" y="176479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Bahnschrift"/>
              </a:defRPr>
            </a:pPr>
            <a:r>
              <a:t>Academic References &amp; Citations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695" y="214884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1. Delhivery Logistics Open Dataset (Kaggle Indian Freight &amp; Corridors).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2. Luxen, D., &amp; Vetter, C. 'Real-time routing with OpenStreetMap data' (OSRM).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3. Pedregosa et al., 'Scikit-learn: Machine Learning in Python', JMLR 12.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4. ModernBERT &amp; Laya Architecture (ConvAI Innovations, 2025).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5. Arik, S. O., &amp; Pfister, T. 'TabNet: Attentive Interpretable Tabular Learning', AAAI.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4892040"/>
            <a:ext cx="5212080" cy="137160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5029200"/>
            <a:ext cx="490667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F0FF"/>
                </a:solidFill>
                <a:latin typeface="Bahnschrift"/>
              </a:defRPr>
            </a:pPr>
            <a:r>
              <a:t>THANK YOU!</a:t>
            </a:r>
          </a:p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Open for Questions, Evaluation &amp; Live System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